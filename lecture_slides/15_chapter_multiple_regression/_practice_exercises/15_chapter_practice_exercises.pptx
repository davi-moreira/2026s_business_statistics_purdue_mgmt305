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6" r:id="rId4"/>
    <p:sldId id="264" r:id="rId5"/>
    <p:sldId id="267" r:id="rId6"/>
    <p:sldId id="261" r:id="rId7"/>
    <p:sldId id="258" r:id="rId8"/>
    <p:sldId id="257"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703"/>
  </p:normalViewPr>
  <p:slideViewPr>
    <p:cSldViewPr snapToGrid="0">
      <p:cViewPr varScale="1">
        <p:scale>
          <a:sx n="114" d="100"/>
          <a:sy n="114" d="100"/>
        </p:scale>
        <p:origin x="66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7B98-6A98-8A7C-F728-5A3659FEC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90311B-62E3-EE54-2033-872959E342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D72CF-B800-67C4-C577-2CDF86D38197}"/>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1AB20A0E-C5E9-90B4-00B3-0C5BD81D3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D6581-600F-CF81-4701-4FF63351EF29}"/>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02143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48CC-D0FA-0436-A2EC-DF7E194B56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6EE441-4D49-48E8-1BF5-2D98C0443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9488F-E823-75B0-5552-31715AB49A2A}"/>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590B1048-3D2D-6856-AD13-10C247E08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C64432-282B-0ECD-F256-B78BCAC4028A}"/>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021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C9A7C-3DED-E9EF-A2A9-E9E9EB899F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A48FFA-D65C-A671-9F4C-6A80F7CC06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69EFD-BDF5-6BB5-FFF1-E483DAFBA23D}"/>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923B3BEC-717A-40D1-7EB1-D211953E0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DD15D-5441-E48A-716E-F4F3AA465748}"/>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246456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169D3-6645-5B7C-9F0A-7CBB4471FF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8094A-7802-8C23-CC23-96D5D1AEF9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7D7447-C69B-7D6A-A09E-3CD7B652F1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AF2557-0813-FF72-0137-82EB46B0857C}"/>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6" name="Footer Placeholder 5">
            <a:extLst>
              <a:ext uri="{FF2B5EF4-FFF2-40B4-BE49-F238E27FC236}">
                <a16:creationId xmlns:a16="http://schemas.microsoft.com/office/drawing/2014/main" id="{C8F5725E-4937-066B-3DC8-8DBF0FD750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B555A-B207-3B39-0036-D8A3DB7BB68C}"/>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472436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6F36-44B7-C7F0-07E7-051EB84898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B62974-0FA6-4519-1342-82E030C9DE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4F54B8-534E-BD67-BC3B-9E71C89573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68644F-4DD0-2AD3-9D9D-92B2D64DA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E54AFC-B546-A003-7979-6ECA4BCE53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62911-C1E2-B507-2C54-004677E67872}"/>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8" name="Footer Placeholder 7">
            <a:extLst>
              <a:ext uri="{FF2B5EF4-FFF2-40B4-BE49-F238E27FC236}">
                <a16:creationId xmlns:a16="http://schemas.microsoft.com/office/drawing/2014/main" id="{5D0BFE27-63C0-3672-ECAC-CF84AD796D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859E7E-BD67-9418-ED60-A694941BB991}"/>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542279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AF53-0DDA-72EA-B570-D501018C92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96ADB2-78BC-D0C0-BBE6-A9D38C11147C}"/>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4" name="Footer Placeholder 3">
            <a:extLst>
              <a:ext uri="{FF2B5EF4-FFF2-40B4-BE49-F238E27FC236}">
                <a16:creationId xmlns:a16="http://schemas.microsoft.com/office/drawing/2014/main" id="{63DF0F8B-06C6-A1DF-E932-29F9BAF0E5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4C62EC-DCE7-D249-97F9-0522C9B44E4F}"/>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1064461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F6D863-284E-C791-0205-556A5163AE11}"/>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3" name="Footer Placeholder 2">
            <a:extLst>
              <a:ext uri="{FF2B5EF4-FFF2-40B4-BE49-F238E27FC236}">
                <a16:creationId xmlns:a16="http://schemas.microsoft.com/office/drawing/2014/main" id="{02EE645F-968A-18F5-0EFF-84A47AF25B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9DA19F-1723-1010-0E55-F56F4AF3AA46}"/>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136981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3F78-7297-336E-5EA5-2CA4C525A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9EAAE5-2661-E25A-4EB8-D836D679E0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48DB01-2A8A-22DC-F1E9-BFCF27140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F0E04-1F54-1356-0BC9-856949ECFF0C}"/>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6" name="Footer Placeholder 5">
            <a:extLst>
              <a:ext uri="{FF2B5EF4-FFF2-40B4-BE49-F238E27FC236}">
                <a16:creationId xmlns:a16="http://schemas.microsoft.com/office/drawing/2014/main" id="{E5D78016-090B-45BD-2D07-333450B8F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5FE62-16B8-85AE-FD2A-D294EE8D50AE}"/>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85297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DBB3-2606-9DAC-EE20-A4590D5255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D672D4-F4D8-8022-B23C-4BFC3EE412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DE1C33-6748-9356-13DC-C326AF148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A332A0-EECE-7BFB-4E75-EB17C77B8DF5}"/>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6" name="Footer Placeholder 5">
            <a:extLst>
              <a:ext uri="{FF2B5EF4-FFF2-40B4-BE49-F238E27FC236}">
                <a16:creationId xmlns:a16="http://schemas.microsoft.com/office/drawing/2014/main" id="{1E895D94-3CDE-89C8-9DF8-F77CE5DE7B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F3A0C9-056D-1C03-E63C-445F52F818D4}"/>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420501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2CD2-251F-1C5D-E131-840484FBCF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666CE1-7F07-3604-6B8F-DC4383B8FD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C99DA-B620-F011-9AD7-AC6E32DADC2B}"/>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877403F7-4B84-5481-D36F-A213E24B45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3BE84-F054-83CE-1B94-22BD6E649618}"/>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42189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5A07B-DB09-335F-84B2-3C1DD2A42E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66266F-8095-FFA7-6193-9624909638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4E8CD-9B60-9D4F-FEAF-7BD098924163}"/>
              </a:ext>
            </a:extLst>
          </p:cNvPr>
          <p:cNvSpPr>
            <a:spLocks noGrp="1"/>
          </p:cNvSpPr>
          <p:nvPr>
            <p:ph type="dt" sz="half" idx="10"/>
          </p:nvPr>
        </p:nvSpPr>
        <p:spPr/>
        <p:txBody>
          <a:body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4DF10B8B-7372-7F70-4A73-A85A24201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0B17-5250-C5C0-0D20-0736C9804D7A}"/>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53226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F6D53-02CD-5A2C-8EDB-83D2A8264D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3B92A8-E5FC-B38E-B75D-66F53C550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E93FFE-5F94-ACE6-EC52-0DAFBD11A6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C4B633-3ACF-5C4E-AFBB-35FC5622A892}" type="datetimeFigureOut">
              <a:rPr lang="en-US" smtClean="0"/>
              <a:t>2/27/26</a:t>
            </a:fld>
            <a:endParaRPr lang="en-US"/>
          </a:p>
        </p:txBody>
      </p:sp>
      <p:sp>
        <p:nvSpPr>
          <p:cNvPr id="5" name="Footer Placeholder 4">
            <a:extLst>
              <a:ext uri="{FF2B5EF4-FFF2-40B4-BE49-F238E27FC236}">
                <a16:creationId xmlns:a16="http://schemas.microsoft.com/office/drawing/2014/main" id="{AE8680B1-4F7C-475D-7C40-F49C11FDAE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51F17-D4B1-D3FD-75AD-0E58A72ADB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B2A536-2B91-8546-8CF9-DFB643FD8912}" type="slidenum">
              <a:rPr lang="en-US" smtClean="0"/>
              <a:t>‹#›</a:t>
            </a:fld>
            <a:endParaRPr lang="en-US"/>
          </a:p>
        </p:txBody>
      </p:sp>
    </p:spTree>
    <p:extLst>
      <p:ext uri="{BB962C8B-B14F-4D97-AF65-F5344CB8AC3E}">
        <p14:creationId xmlns:p14="http://schemas.microsoft.com/office/powerpoint/2010/main" val="40503872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1383-7AE4-9820-724A-DBE7D5325361}"/>
              </a:ext>
            </a:extLst>
          </p:cNvPr>
          <p:cNvSpPr>
            <a:spLocks noGrp="1"/>
          </p:cNvSpPr>
          <p:nvPr>
            <p:ph type="ctrTitle"/>
          </p:nvPr>
        </p:nvSpPr>
        <p:spPr/>
        <p:txBody>
          <a:bodyPr/>
          <a:lstStyle/>
          <a:p>
            <a:r>
              <a:rPr lang="en-US" dirty="0"/>
              <a:t>In-class Practice Exercises</a:t>
            </a:r>
          </a:p>
        </p:txBody>
      </p:sp>
      <p:sp>
        <p:nvSpPr>
          <p:cNvPr id="3" name="Subtitle 2">
            <a:extLst>
              <a:ext uri="{FF2B5EF4-FFF2-40B4-BE49-F238E27FC236}">
                <a16:creationId xmlns:a16="http://schemas.microsoft.com/office/drawing/2014/main" id="{92724132-7F3F-C63E-4E0E-D2B2C240E14A}"/>
              </a:ext>
            </a:extLst>
          </p:cNvPr>
          <p:cNvSpPr>
            <a:spLocks noGrp="1"/>
          </p:cNvSpPr>
          <p:nvPr>
            <p:ph type="subTitle" idx="1"/>
          </p:nvPr>
        </p:nvSpPr>
        <p:spPr/>
        <p:txBody>
          <a:bodyPr>
            <a:normAutofit/>
          </a:bodyPr>
          <a:lstStyle/>
          <a:p>
            <a:r>
              <a:rPr lang="en-US" sz="3200" dirty="0"/>
              <a:t>Multiple Regression</a:t>
            </a:r>
          </a:p>
        </p:txBody>
      </p:sp>
    </p:spTree>
    <p:extLst>
      <p:ext uri="{BB962C8B-B14F-4D97-AF65-F5344CB8AC3E}">
        <p14:creationId xmlns:p14="http://schemas.microsoft.com/office/powerpoint/2010/main" val="2410744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8CA9-9F94-223E-35F4-35DE157E3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FAB66-C814-76F4-C472-E6F682D0451F}"/>
              </a:ext>
            </a:extLst>
          </p:cNvPr>
          <p:cNvSpPr>
            <a:spLocks noGrp="1"/>
          </p:cNvSpPr>
          <p:nvPr>
            <p:ph type="title"/>
          </p:nvPr>
        </p:nvSpPr>
        <p:spPr>
          <a:xfrm>
            <a:off x="447908" y="137317"/>
            <a:ext cx="6844990" cy="548483"/>
          </a:xfrm>
        </p:spPr>
        <p:txBody>
          <a:bodyPr>
            <a:normAutofit/>
          </a:bodyPr>
          <a:lstStyle/>
          <a:p>
            <a:r>
              <a:rPr lang="en-US" sz="2400" dirty="0"/>
              <a:t>Multiple Regression</a:t>
            </a:r>
          </a:p>
        </p:txBody>
      </p:sp>
      <p:sp>
        <p:nvSpPr>
          <p:cNvPr id="5" name="TextBox 4">
            <a:extLst>
              <a:ext uri="{FF2B5EF4-FFF2-40B4-BE49-F238E27FC236}">
                <a16:creationId xmlns:a16="http://schemas.microsoft.com/office/drawing/2014/main" id="{326F57D5-5526-A933-DF90-48AD4DC06406}"/>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582C2F9B-8765-5A6D-6CA0-F62E2E59F17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9FBABC1F-FCFE-4555-1DE1-E0C95471E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F5E11715-D697-5418-AA04-4E95846D90F4}"/>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327F04E9-5322-9BCD-2AF0-92DA253E9C25}"/>
              </a:ext>
            </a:extLst>
          </p:cNvPr>
          <p:cNvSpPr txBox="1"/>
          <p:nvPr/>
        </p:nvSpPr>
        <p:spPr>
          <a:xfrm>
            <a:off x="5906428" y="1228195"/>
            <a:ext cx="5735445" cy="4247317"/>
          </a:xfrm>
          <a:prstGeom prst="rect">
            <a:avLst/>
          </a:prstGeom>
          <a:noFill/>
        </p:spPr>
        <p:txBody>
          <a:bodyPr wrap="square">
            <a:spAutoFit/>
          </a:bodyPr>
          <a:lstStyle/>
          <a:p>
            <a:r>
              <a:rPr lang="en-US" dirty="0"/>
              <a:t>Among the five (5) predictors included in the analysis, which is estimated to be the most significant predictor of the transportation cost?</a:t>
            </a:r>
          </a:p>
          <a:p>
            <a:endParaRPr lang="en-US" dirty="0"/>
          </a:p>
          <a:p>
            <a:pPr lvl="0"/>
            <a:r>
              <a:rPr lang="en-US" dirty="0"/>
              <a:t>A) Boat, because it has the largest absolute regression coefficient.</a:t>
            </a:r>
          </a:p>
          <a:p>
            <a:pPr lvl="0"/>
            <a:endParaRPr lang="en-US" dirty="0"/>
          </a:p>
          <a:p>
            <a:pPr lvl="0"/>
            <a:r>
              <a:rPr lang="en-US" dirty="0"/>
              <a:t>B) Distance, because its estimated regression coefficient is the largest.</a:t>
            </a:r>
          </a:p>
          <a:p>
            <a:pPr lvl="0"/>
            <a:endParaRPr lang="en-US" dirty="0"/>
          </a:p>
          <a:p>
            <a:pPr lvl="0"/>
            <a:r>
              <a:rPr lang="en-US" dirty="0"/>
              <a:t>C) Distance, because its correlation with transportation cost is the largest.</a:t>
            </a:r>
          </a:p>
          <a:p>
            <a:pPr lvl="0"/>
            <a:endParaRPr lang="en-US" dirty="0"/>
          </a:p>
          <a:p>
            <a:pPr lvl="0"/>
            <a:r>
              <a:rPr lang="en-US" dirty="0"/>
              <a:t>D) Distance, because it has the smallest p-value.</a:t>
            </a:r>
          </a:p>
          <a:p>
            <a:pPr lvl="0"/>
            <a:r>
              <a:rPr lang="en-US" dirty="0"/>
              <a:t>Cannot be determined based on the given information.</a:t>
            </a:r>
          </a:p>
        </p:txBody>
      </p:sp>
    </p:spTree>
    <p:extLst>
      <p:ext uri="{BB962C8B-B14F-4D97-AF65-F5344CB8AC3E}">
        <p14:creationId xmlns:p14="http://schemas.microsoft.com/office/powerpoint/2010/main" val="346529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A4CA-544B-5FF5-67F9-E7392D1336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1593986-CA9F-80B7-9FCF-58FCD7847659}"/>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E5F36865-0E4D-93E2-D782-857ACA53DABE}"/>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6A1AEBBD-2E80-C794-FB78-59C900D03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1E17462A-190B-8165-221D-942D39E11DB4}"/>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E2CAEF50-5FF5-14BC-FA50-DD7F27BD4E13}"/>
              </a:ext>
            </a:extLst>
          </p:cNvPr>
          <p:cNvSpPr txBox="1"/>
          <p:nvPr/>
        </p:nvSpPr>
        <p:spPr>
          <a:xfrm>
            <a:off x="5906428" y="1228195"/>
            <a:ext cx="5735445" cy="4247317"/>
          </a:xfrm>
          <a:prstGeom prst="rect">
            <a:avLst/>
          </a:prstGeom>
          <a:noFill/>
        </p:spPr>
        <p:txBody>
          <a:bodyPr wrap="square">
            <a:spAutoFit/>
          </a:bodyPr>
          <a:lstStyle/>
          <a:p>
            <a:r>
              <a:rPr lang="en-US" dirty="0"/>
              <a:t>Among the five (5) predictors included in the analysis, which is estimated to be the most significant predictor of the transportation cost?</a:t>
            </a:r>
          </a:p>
          <a:p>
            <a:endParaRPr lang="en-US" dirty="0"/>
          </a:p>
          <a:p>
            <a:pPr lvl="0"/>
            <a:r>
              <a:rPr lang="en-US" dirty="0"/>
              <a:t>A) Boat, because it has the largest absolute regression coefficient.</a:t>
            </a:r>
          </a:p>
          <a:p>
            <a:pPr lvl="0"/>
            <a:endParaRPr lang="en-US" dirty="0"/>
          </a:p>
          <a:p>
            <a:pPr lvl="0"/>
            <a:r>
              <a:rPr lang="en-US" dirty="0"/>
              <a:t>B) Distance, because its estimated regression coefficient is the largest.</a:t>
            </a:r>
          </a:p>
          <a:p>
            <a:pPr lvl="0"/>
            <a:endParaRPr lang="en-US" dirty="0"/>
          </a:p>
          <a:p>
            <a:pPr lvl="0"/>
            <a:r>
              <a:rPr lang="en-US" dirty="0">
                <a:solidFill>
                  <a:srgbClr val="FF0000"/>
                </a:solidFill>
              </a:rPr>
              <a:t>C) Distance, because its correlation with transportation cost is the largest.</a:t>
            </a:r>
          </a:p>
          <a:p>
            <a:pPr lvl="0"/>
            <a:endParaRPr lang="en-US" dirty="0"/>
          </a:p>
          <a:p>
            <a:pPr lvl="0"/>
            <a:r>
              <a:rPr lang="en-US" dirty="0"/>
              <a:t>D) Distance, because it has the smallest p-value.</a:t>
            </a:r>
          </a:p>
          <a:p>
            <a:pPr lvl="0"/>
            <a:r>
              <a:rPr lang="en-US" dirty="0"/>
              <a:t>Cannot be determined based on the given information.</a:t>
            </a:r>
          </a:p>
        </p:txBody>
      </p:sp>
      <p:sp>
        <p:nvSpPr>
          <p:cNvPr id="8" name="Title 1">
            <a:extLst>
              <a:ext uri="{FF2B5EF4-FFF2-40B4-BE49-F238E27FC236}">
                <a16:creationId xmlns:a16="http://schemas.microsoft.com/office/drawing/2014/main" id="{32A1EDBF-9B5D-5C93-7C25-85241F7D7C73}"/>
              </a:ext>
            </a:extLst>
          </p:cNvPr>
          <p:cNvSpPr txBox="1">
            <a:spLocks/>
          </p:cNvSpPr>
          <p:nvPr/>
        </p:nvSpPr>
        <p:spPr>
          <a:xfrm>
            <a:off x="447908" y="137317"/>
            <a:ext cx="6844990" cy="5484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Multiple Regression</a:t>
            </a:r>
            <a:endParaRPr lang="en-US" sz="2400" dirty="0"/>
          </a:p>
        </p:txBody>
      </p:sp>
    </p:spTree>
    <p:extLst>
      <p:ext uri="{BB962C8B-B14F-4D97-AF65-F5344CB8AC3E}">
        <p14:creationId xmlns:p14="http://schemas.microsoft.com/office/powerpoint/2010/main" val="228796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4F91-49D1-F938-6D36-EE0447FC8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86368-743B-1B35-009A-93D1380786F3}"/>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8BF94F84-CC31-D711-ADD4-A524FC6CED67}"/>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591FA4DE-452E-202D-EA64-DE72F1926980}"/>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CA98C81B-C813-3D74-D21C-58D77AA80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C46A8F98-896E-F7F4-85E6-9F257108F005}"/>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9253F28C-3BD8-BDA9-7632-4B36DC957D5B}"/>
              </a:ext>
            </a:extLst>
          </p:cNvPr>
          <p:cNvSpPr txBox="1"/>
          <p:nvPr/>
        </p:nvSpPr>
        <p:spPr>
          <a:xfrm>
            <a:off x="5906428" y="1228195"/>
            <a:ext cx="5735445" cy="3693319"/>
          </a:xfrm>
          <a:prstGeom prst="rect">
            <a:avLst/>
          </a:prstGeom>
          <a:noFill/>
        </p:spPr>
        <p:txBody>
          <a:bodyPr wrap="square">
            <a:spAutoFit/>
          </a:bodyPr>
          <a:lstStyle/>
          <a:p>
            <a:r>
              <a:rPr lang="en-US" dirty="0"/>
              <a:t>Suppose that there is a shipment, not in the data set, which is being transported by airplane, weighs 200 pounds, and travels 100 miles. What is the predicted transportation cost for this shipment (rounded to the nearest dollar)?</a:t>
            </a:r>
          </a:p>
          <a:p>
            <a:endParaRPr lang="en-US" dirty="0"/>
          </a:p>
          <a:p>
            <a:pPr marL="800100" lvl="1" indent="-342900">
              <a:buAutoNum type="alphaUcParenR"/>
            </a:pPr>
            <a:r>
              <a:rPr lang="en-US" dirty="0"/>
              <a:t>$400</a:t>
            </a:r>
          </a:p>
          <a:p>
            <a:pPr marL="800100" lvl="1" indent="-342900">
              <a:buAutoNum type="alphaUcParenR"/>
            </a:pPr>
            <a:endParaRPr lang="en-US" dirty="0"/>
          </a:p>
          <a:p>
            <a:pPr marL="800100" lvl="1" indent="-342900">
              <a:buAutoNum type="alphaUcParenR"/>
            </a:pPr>
            <a:r>
              <a:rPr lang="en-US" dirty="0"/>
              <a:t>$386</a:t>
            </a:r>
          </a:p>
          <a:p>
            <a:pPr marL="800100" lvl="1" indent="-342900">
              <a:buAutoNum type="alphaUcParenR"/>
            </a:pPr>
            <a:endParaRPr lang="en-US" dirty="0"/>
          </a:p>
          <a:p>
            <a:pPr marL="800100" lvl="1" indent="-342900">
              <a:buAutoNum type="alphaUcParenR"/>
            </a:pPr>
            <a:r>
              <a:rPr lang="en-US" dirty="0"/>
              <a:t>$396</a:t>
            </a:r>
          </a:p>
          <a:p>
            <a:pPr marL="800100" lvl="1" indent="-342900">
              <a:buAutoNum type="alphaUcParenR"/>
            </a:pPr>
            <a:endParaRPr lang="en-US" dirty="0"/>
          </a:p>
          <a:p>
            <a:pPr marL="800100" lvl="1" indent="-342900">
              <a:buAutoNum type="alphaUcParenR"/>
            </a:pPr>
            <a:r>
              <a:rPr lang="en-US" dirty="0"/>
              <a:t>$420</a:t>
            </a:r>
          </a:p>
        </p:txBody>
      </p:sp>
    </p:spTree>
    <p:extLst>
      <p:ext uri="{BB962C8B-B14F-4D97-AF65-F5344CB8AC3E}">
        <p14:creationId xmlns:p14="http://schemas.microsoft.com/office/powerpoint/2010/main" val="207618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4F55-99B6-4669-D698-56F2E01D8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5C177-4868-C139-B27B-FE8441B54DDB}"/>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5F18CADF-A533-5543-04D0-48EB8E11069D}"/>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FD06CA0A-9BD7-A815-CFA7-C797FFB8283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3147FD14-188D-EF46-2CF3-EEB010D3C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6DCF587-5BC3-B011-95B7-3A5AD01A0BDA}"/>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CA1DE2E3-0622-4E13-5F2B-122E57A8C065}"/>
              </a:ext>
            </a:extLst>
          </p:cNvPr>
          <p:cNvSpPr txBox="1"/>
          <p:nvPr/>
        </p:nvSpPr>
        <p:spPr>
          <a:xfrm>
            <a:off x="5906428" y="1228195"/>
            <a:ext cx="5735445" cy="3693319"/>
          </a:xfrm>
          <a:prstGeom prst="rect">
            <a:avLst/>
          </a:prstGeom>
          <a:noFill/>
        </p:spPr>
        <p:txBody>
          <a:bodyPr wrap="square">
            <a:spAutoFit/>
          </a:bodyPr>
          <a:lstStyle/>
          <a:p>
            <a:r>
              <a:rPr lang="en-US" dirty="0"/>
              <a:t>Suppose that there is a shipment, not in the data set, which is being transported by airplane, weighs 200 pounds, and travels 100 miles. What is the predicted transportation cost for this shipment (rounded to the nearest dollar)?</a:t>
            </a:r>
          </a:p>
          <a:p>
            <a:endParaRPr lang="en-US" dirty="0"/>
          </a:p>
          <a:p>
            <a:pPr marL="800100" lvl="1" indent="-342900">
              <a:buAutoNum type="alphaUcParenR"/>
            </a:pPr>
            <a:r>
              <a:rPr lang="en-US" dirty="0">
                <a:solidFill>
                  <a:srgbClr val="FF0000"/>
                </a:solidFill>
              </a:rPr>
              <a:t>$400</a:t>
            </a:r>
          </a:p>
          <a:p>
            <a:pPr marL="800100" lvl="1" indent="-342900">
              <a:buAutoNum type="alphaUcParenR"/>
            </a:pPr>
            <a:endParaRPr lang="en-US" dirty="0"/>
          </a:p>
          <a:p>
            <a:pPr marL="800100" lvl="1" indent="-342900">
              <a:buAutoNum type="alphaUcParenR"/>
            </a:pPr>
            <a:r>
              <a:rPr lang="en-US" dirty="0"/>
              <a:t>$386</a:t>
            </a:r>
          </a:p>
          <a:p>
            <a:pPr marL="800100" lvl="1" indent="-342900">
              <a:buAutoNum type="alphaUcParenR"/>
            </a:pPr>
            <a:endParaRPr lang="en-US" dirty="0"/>
          </a:p>
          <a:p>
            <a:pPr marL="800100" lvl="1" indent="-342900">
              <a:buAutoNum type="alphaUcParenR"/>
            </a:pPr>
            <a:r>
              <a:rPr lang="en-US" dirty="0"/>
              <a:t>$396</a:t>
            </a:r>
          </a:p>
          <a:p>
            <a:pPr marL="800100" lvl="1" indent="-342900">
              <a:buAutoNum type="alphaUcParenR"/>
            </a:pPr>
            <a:endParaRPr lang="en-US" dirty="0"/>
          </a:p>
          <a:p>
            <a:pPr marL="800100" lvl="1" indent="-342900">
              <a:buAutoNum type="alphaUcParenR"/>
            </a:pPr>
            <a:r>
              <a:rPr lang="en-US" dirty="0"/>
              <a:t>$420</a:t>
            </a:r>
          </a:p>
        </p:txBody>
      </p:sp>
    </p:spTree>
    <p:extLst>
      <p:ext uri="{BB962C8B-B14F-4D97-AF65-F5344CB8AC3E}">
        <p14:creationId xmlns:p14="http://schemas.microsoft.com/office/powerpoint/2010/main" val="269703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A0F9E-94EF-45AA-1AD7-5A39DEFB7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6665B-E169-095C-2C13-4A4AABE0E9FC}"/>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7254454C-7CC0-5D8A-21E4-5B25B17C0D06}"/>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7D69CDDE-A277-4E80-BEBA-9DBFB8412358}"/>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2A7947AA-8058-55D5-D297-1E1533B00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8D0EC3CC-4F44-C54F-F69A-7152FC709AB0}"/>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CEBFB702-FF46-84F6-2C0C-9B01E2A74CFB}"/>
              </a:ext>
            </a:extLst>
          </p:cNvPr>
          <p:cNvSpPr txBox="1"/>
          <p:nvPr/>
        </p:nvSpPr>
        <p:spPr>
          <a:xfrm>
            <a:off x="5906428" y="1228195"/>
            <a:ext cx="5735445" cy="4426340"/>
          </a:xfrm>
          <a:prstGeom prst="rect">
            <a:avLst/>
          </a:prstGeom>
          <a:noFill/>
        </p:spPr>
        <p:txBody>
          <a:bodyPr wrap="square">
            <a:spAutoFit/>
          </a:bodyPr>
          <a:lstStyle/>
          <a:p>
            <a:pPr marL="0" marR="0">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Which of the following is a correct interpretation of the estimated slope coefficients?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boat to airplane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7399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0E20-19CF-5A92-3A2A-431548AA7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5C8A4-29C4-D2D7-500C-674CDC2E0EC1}"/>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E5541E5A-1490-8FDB-7F52-31CFAE0D3EE7}"/>
              </a:ext>
            </a:extLst>
          </p:cNvPr>
          <p:cNvSpPr txBox="1"/>
          <p:nvPr/>
        </p:nvSpPr>
        <p:spPr>
          <a:xfrm>
            <a:off x="447908" y="800099"/>
            <a:ext cx="4703955" cy="1244828"/>
          </a:xfrm>
          <a:prstGeom prst="rect">
            <a:avLst/>
          </a:prstGeom>
          <a:noFill/>
        </p:spPr>
        <p:txBody>
          <a:bodyPr wrap="square">
            <a:spAutoFit/>
          </a:bodyPr>
          <a:lstStyle/>
          <a:p>
            <a:pPr marL="0" marR="0">
              <a:lnSpc>
                <a:spcPct val="115000"/>
              </a:lnSpc>
              <a:spcAft>
                <a:spcPts val="800"/>
              </a:spcAft>
              <a:buNone/>
            </a:pPr>
            <a:r>
              <a:rPr lang="en-US" sz="12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E4A03725-91BC-44FB-6FA8-296E0D5B1B5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98999DF8-92CC-B267-13EF-57DA34E20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285999"/>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4D4EBDCF-98E3-FD1B-53DB-5C931ABBC182}"/>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A53A69F7-532D-D643-9E2D-40256B1AC7BA}"/>
              </a:ext>
            </a:extLst>
          </p:cNvPr>
          <p:cNvSpPr txBox="1"/>
          <p:nvPr/>
        </p:nvSpPr>
        <p:spPr>
          <a:xfrm>
            <a:off x="5906428" y="1228195"/>
            <a:ext cx="5735445" cy="4426340"/>
          </a:xfrm>
          <a:prstGeom prst="rect">
            <a:avLst/>
          </a:prstGeom>
          <a:noFill/>
        </p:spPr>
        <p:txBody>
          <a:bodyPr wrap="square">
            <a:spAutoFit/>
          </a:bodyPr>
          <a:lstStyle/>
          <a:p>
            <a:pPr marL="0" marR="0">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Which of the following is a correct interpretation of the estimated slope coefficients?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airplane to boat is predicted to reduce transportation costs by 8.13.</a:t>
            </a:r>
            <a:endParaRPr lang="en-US"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boat to airplane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7831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0189-6557-67EF-44EF-398C09795F2D}"/>
              </a:ext>
            </a:extLst>
          </p:cNvPr>
          <p:cNvSpPr>
            <a:spLocks noGrp="1"/>
          </p:cNvSpPr>
          <p:nvPr>
            <p:ph type="title"/>
          </p:nvPr>
        </p:nvSpPr>
        <p:spPr>
          <a:xfrm>
            <a:off x="447908" y="137317"/>
            <a:ext cx="6844990" cy="548483"/>
          </a:xfrm>
        </p:spPr>
        <p:txBody>
          <a:bodyPr>
            <a:normAutofit/>
          </a:bodyPr>
          <a:lstStyle/>
          <a:p>
            <a:r>
              <a:rPr lang="en-US" sz="2400" dirty="0"/>
              <a:t>Multicollinearity</a:t>
            </a:r>
          </a:p>
        </p:txBody>
      </p:sp>
      <p:sp>
        <p:nvSpPr>
          <p:cNvPr id="6" name="Rectangle 2">
            <a:extLst>
              <a:ext uri="{FF2B5EF4-FFF2-40B4-BE49-F238E27FC236}">
                <a16:creationId xmlns:a16="http://schemas.microsoft.com/office/drawing/2014/main" id="{C08310B6-DD0B-29D5-758C-8AEA1359DE55}"/>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3">
            <a:extLst>
              <a:ext uri="{FF2B5EF4-FFF2-40B4-BE49-F238E27FC236}">
                <a16:creationId xmlns:a16="http://schemas.microsoft.com/office/drawing/2014/main" id="{4DEB2192-E543-DC8E-0B08-37D05FA5BABD}"/>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A2CA5D44-CCFC-CA23-F0C0-485E4CF8D4C4}"/>
              </a:ext>
            </a:extLst>
          </p:cNvPr>
          <p:cNvSpPr txBox="1"/>
          <p:nvPr/>
        </p:nvSpPr>
        <p:spPr>
          <a:xfrm>
            <a:off x="348476" y="1149128"/>
            <a:ext cx="11705992" cy="1561005"/>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 data analyst for a travel company is researching souvenir expenditures. For 40 randomly selected recent travel clients, she records their Souvenir Expenditures ($100), household Income ($1000), the Importance they placed on the vacation (1 – 10), the length of the vacation (Days), and whether the trip was domestic or International (Intl: 0-domestic, 1-international). She is considering least-squares regression models to predict Souvenir Expenditures (Expenditures) from combinations of the other variables. </a:t>
            </a:r>
          </a:p>
        </p:txBody>
      </p:sp>
      <p:pic>
        <p:nvPicPr>
          <p:cNvPr id="12" name="Picture 11">
            <a:extLst>
              <a:ext uri="{FF2B5EF4-FFF2-40B4-BE49-F238E27FC236}">
                <a16:creationId xmlns:a16="http://schemas.microsoft.com/office/drawing/2014/main" id="{7F1378E0-EC14-774E-DB64-0980B862D093}"/>
              </a:ext>
            </a:extLst>
          </p:cNvPr>
          <p:cNvPicPr>
            <a:picLocks noChangeAspect="1"/>
          </p:cNvPicPr>
          <p:nvPr/>
        </p:nvPicPr>
        <p:blipFill>
          <a:blip r:embed="rId2"/>
          <a:stretch>
            <a:fillRect/>
          </a:stretch>
        </p:blipFill>
        <p:spPr>
          <a:xfrm>
            <a:off x="2103579" y="2965673"/>
            <a:ext cx="7614717" cy="3468568"/>
          </a:xfrm>
          <a:prstGeom prst="rect">
            <a:avLst/>
          </a:prstGeom>
        </p:spPr>
      </p:pic>
    </p:spTree>
    <p:extLst>
      <p:ext uri="{BB962C8B-B14F-4D97-AF65-F5344CB8AC3E}">
        <p14:creationId xmlns:p14="http://schemas.microsoft.com/office/powerpoint/2010/main" val="2088737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CB52-BEDA-BCD3-4C6B-BEFE18B93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5A602-573D-5B37-4C2C-486AA8E5E2C0}"/>
              </a:ext>
            </a:extLst>
          </p:cNvPr>
          <p:cNvSpPr>
            <a:spLocks noGrp="1"/>
          </p:cNvSpPr>
          <p:nvPr>
            <p:ph type="title"/>
          </p:nvPr>
        </p:nvSpPr>
        <p:spPr>
          <a:xfrm>
            <a:off x="447908" y="137317"/>
            <a:ext cx="6844990" cy="548483"/>
          </a:xfrm>
        </p:spPr>
        <p:txBody>
          <a:bodyPr>
            <a:normAutofit/>
          </a:bodyPr>
          <a:lstStyle/>
          <a:p>
            <a:r>
              <a:rPr lang="en-US" sz="2400" dirty="0"/>
              <a:t>Multicollinearity</a:t>
            </a:r>
          </a:p>
        </p:txBody>
      </p:sp>
      <p:sp>
        <p:nvSpPr>
          <p:cNvPr id="6" name="Rectangle 2">
            <a:extLst>
              <a:ext uri="{FF2B5EF4-FFF2-40B4-BE49-F238E27FC236}">
                <a16:creationId xmlns:a16="http://schemas.microsoft.com/office/drawing/2014/main" id="{B9C9C09A-D30D-11D9-73BB-2D91FE00F4AA}"/>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3">
            <a:extLst>
              <a:ext uri="{FF2B5EF4-FFF2-40B4-BE49-F238E27FC236}">
                <a16:creationId xmlns:a16="http://schemas.microsoft.com/office/drawing/2014/main" id="{B9BFDB83-403D-C88E-A1F6-42BCF21782DF}"/>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782DAF03-E70D-4617-AF28-7A599FD1C57D}"/>
              </a:ext>
            </a:extLst>
          </p:cNvPr>
          <p:cNvSpPr txBox="1"/>
          <p:nvPr/>
        </p:nvSpPr>
        <p:spPr>
          <a:xfrm>
            <a:off x="348476" y="1149128"/>
            <a:ext cx="11705992" cy="1561005"/>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 data analyst for a travel company is researching souvenir expenditures. For 40 randomly selected recent travel clients, she records their Souvenir Expenditures ($100), household Income ($1000), the Importance they placed on the vacation (1 – 10), the length of the vacation (Days), and whether the trip was domestic or International (Intl: 0-domestic, 1-international). She is considering least-squares regression models to predict Souvenir Expenditures (Expenditures) from combinations of the other variables. </a:t>
            </a:r>
          </a:p>
        </p:txBody>
      </p:sp>
      <p:pic>
        <p:nvPicPr>
          <p:cNvPr id="3" name="Picture 2">
            <a:extLst>
              <a:ext uri="{FF2B5EF4-FFF2-40B4-BE49-F238E27FC236}">
                <a16:creationId xmlns:a16="http://schemas.microsoft.com/office/drawing/2014/main" id="{974B69F2-A309-88CD-D9B0-EFEC4A1EA4D2}"/>
              </a:ext>
            </a:extLst>
          </p:cNvPr>
          <p:cNvPicPr>
            <a:picLocks noChangeAspect="1"/>
          </p:cNvPicPr>
          <p:nvPr/>
        </p:nvPicPr>
        <p:blipFill>
          <a:blip r:embed="rId2"/>
          <a:stretch>
            <a:fillRect/>
          </a:stretch>
        </p:blipFill>
        <p:spPr>
          <a:xfrm>
            <a:off x="2157685" y="2798984"/>
            <a:ext cx="7512046" cy="3434526"/>
          </a:xfrm>
          <a:prstGeom prst="rect">
            <a:avLst/>
          </a:prstGeom>
        </p:spPr>
      </p:pic>
    </p:spTree>
    <p:extLst>
      <p:ext uri="{BB962C8B-B14F-4D97-AF65-F5344CB8AC3E}">
        <p14:creationId xmlns:p14="http://schemas.microsoft.com/office/powerpoint/2010/main" val="1719115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1003</Words>
  <Application>Microsoft Macintosh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In-class Practice Exercises</vt:lpstr>
      <vt:lpstr>Multiple Regression</vt:lpstr>
      <vt:lpstr>PowerPoint Presentation</vt:lpstr>
      <vt:lpstr>Categorical Independent Variable</vt:lpstr>
      <vt:lpstr>Categorical Independent Variable</vt:lpstr>
      <vt:lpstr>Categorical Independent Variable</vt:lpstr>
      <vt:lpstr>Categorical Independent Variable</vt:lpstr>
      <vt:lpstr>Multicollinearity</vt:lpstr>
      <vt:lpstr>Multicollinearity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 Cordeiro Moreira</dc:creator>
  <cp:lastModifiedBy>Davi Cordeiro Moreira</cp:lastModifiedBy>
  <cp:revision>3</cp:revision>
  <dcterms:created xsi:type="dcterms:W3CDTF">2026-02-27T19:27:51Z</dcterms:created>
  <dcterms:modified xsi:type="dcterms:W3CDTF">2026-02-27T19:55:48Z</dcterms:modified>
</cp:coreProperties>
</file>